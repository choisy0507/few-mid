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향의 전체 구조에서 작은 차이로 탐색하는 The Scent Atlas를 소개합니다. 기존의 지도와 비교 화면을 유지하며 8개 계열 중심의 A 대안으로 발전시켰습니다.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Woody는 나무 향이라고만 설명하면 충분하지 않습니다. 계열, 노트, 표현의 역할과 그 사이의 차이를 이해하는 데 초점을 맞춥니다.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선택한 계열 주변에서 관련 정보가 펼쳐지되 다른 일곱 계열은 남습니다. 현재 위치와 큰 방향을 잃지 않는 A 대안이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차분한 호기심, 정보 유형의 차이, 공유 특징의 발견, 관계의 이해, 직접 관찰이라는 변화를 목표로 합니다. 학습 효과는 아직 디자인 가설이며 피드백으로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25초. 내부에서는 Family, Note, Descriptor, Accord, Material을 구분합니다. 지도는 앞의 세 유형 중심으로, 조합과 실제 향료는 상세에서 필요할 때 읽게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25초. Sandalwood의 타입은 노트이고 Creamy, Warm, Dry는 드러날 수 있는 특징입니다. Musk 노트와 Musky 표현도 구분합니다. 여러 계열과 연결되는 다대다 관계입니다.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Fresh, Floral, Floriental, Ambrée, Gourmand, Chypre, Woody, Fougère를 사용합니다. Michael Edwards의 세부 계열이나 Leather를 섞어 공식 목록처럼 부르지 않습니다. 기준은 제공된 리서치에 기반합니다.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분류 기준, 용례의 편집, 공간 탐색, 직접 조작하는 설명을 서로 다른 근거로 구분합니다. 원문 새 접근의 제한은 출처 문서에 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15초. 선호했던 원래 화면의 분위기를 유지합니다. 소재 질감은 감각을 생각해 볼 비유이며 실제 냄새나 원료의 증거 사진이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종이색, 깊은 초록, 연두 선택, 세리프, 우측 패널을 유지합니다. 정보 종류는 기호와 이름으로 구분하고 움직임은 관심의 이동을 알려줍니다.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15초. Home의 짧은 설명 뒤에 전체 지도, 계열 펼침, 개념 상세가 이어집니다. Accord와 Material은 상세 안에서, 비교도 개념 안에서 엽니다. 시간 변화는 제외했습니다.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15초. Floral을 선택해 Musk를 읽고 그 안에서 비교한 뒤 같은 위치로 돌아갑니다. 다른 계열로도 자유롭게 이동할 수 있고 복귀 시 선택 상태를 보존합니다.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짧은 소개와 세 정보 유형의 차이 아래에 큰 지도를 둡니다. 우측 패널은 의미, 장면, 관찰 질문, 관계를 연결하고 필요할 때 전문 정보를 더 읽게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40초. 지도에서 Woody를 선택해 Cedarwood와 Sandalwood, Dry와 Creamy를 읽어봅니다. 노트와 표현을 한 단계의 분류로 합치지 않고 관계로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30초. 원래 두 인상 카드와 오각형의 분위기를 유지합니다. 다만 강도 점수는 제거하고 머스크 비교에 맞는 다섯 항목과 설명을 제공합니다. 큰 메뉴와 동등한 입구보다 개념 안의 심화 경험입니다.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중간 폭에서는 설명을 아래로, 좁은 화면에서는 전체 계열과 펼친 개념을 블록으로 나눕니다. 다른 계열의 접근, 유형, 관계 설명과 선택 상태는 유지됩니다.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발견한 문제, 설계 결정, 기대 효과를 연결합니다. 기대 효과는 검증된 결과가 아니라 발표 피드백으로 확인할 디자인 가설입니다.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수정된 사이트의 실제 브라우저 테스트는 15개입니다. 8계열과 모든 펼침, 내부 비교, 키보드, 움직임 감소를 확인했습니다. 768px의 작은 겹침을 측정하고 수정했습니다. 학습 효과와 콘텐츠는 다음 사용자·전문가 검토가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Family 기준은 사용자 제공 업데이트 리서치에서 채택했습니다. 원문 접근은 프록시 403으로 제한되어 직접 검증을 마친 것처럼 표시하지 않습니다. 관계는 편집 초안이고 화면은 실제 캡처입니다.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사용자에게 역할의 차이, 공유 특징, 현재 위치, 다음 관찰 질문을 물어보겠습니다. 이것이 프로젝트가 해결하려는 이해의 문제와 연결되는 피드백입니다.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요구사항 아홉 항목을 발표와 상세 기획 글에 대응시켰습니다. 1–16장을 본 발표에, 17–21장을 부록에 사용하며 약 5–6분으로 진행할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erfumesociety.org/discover-perfume/an-introduction/fragrance-families/" TargetMode="External"/><Relationship Id="rId3" Type="http://schemas.openxmlformats.org/officeDocument/2006/relationships/hyperlink" Target="https://www.fragrancesoftheworld.com/" TargetMode="External"/><Relationship Id="rId4" Type="http://schemas.openxmlformats.org/officeDocument/2006/relationships/hyperlink" Target="https://perfumesociety.org/ingredients/" TargetMode="External"/><Relationship Id="rId5" Type="http://schemas.openxmlformats.org/officeDocument/2006/relationships/hyperlink" Target="https://www.fragrantica.com/perfume-finder/" TargetMode="External"/><Relationship Id="rId6" Type="http://schemas.openxmlformats.org/officeDocument/2006/relationships/hyperlink" Target="https://scentverdict.com/guides/scentwheel" TargetMode="Externa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FRONT-END WEB / WEEK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38200"/>
            <a:ext cx="609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6480" b="0" i="0" lang="ko-KR">
                <a:solidFill>
                  <a:srgbClr val="263D32"/>
                </a:solidFill>
                <a:latin typeface="Georgia"/>
              </a:rPr>
              <a:t>The Scent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6480" b="0" i="0" lang="ko-KR">
                <a:solidFill>
                  <a:srgbClr val="263D32"/>
                </a:solidFill>
                <a:latin typeface="Georgia"/>
              </a:rPr>
              <a:t>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3291840"/>
            <a:ext cx="5791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1" lang="ko-KR">
                <a:solidFill>
                  <a:srgbClr val="263D32"/>
                </a:solidFill>
                <a:latin typeface="Georgia"/>
              </a:rPr>
              <a:t>Discover how scents connect.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4183380"/>
            <a:ext cx="571500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80" b="0" i="0" lang="ko-KR">
                <a:solidFill>
                  <a:srgbClr val="263D32"/>
                </a:solidFill>
                <a:latin typeface="Noto Sans CJK KR"/>
              </a:rPr>
              <a:t>전체 향의 구조에서,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80" b="0" i="0" lang="ko-KR">
                <a:solidFill>
                  <a:srgbClr val="263D32"/>
                </a:solidFill>
                <a:latin typeface="Noto Sans CJK KR"/>
              </a:rPr>
              <a:t>작은 차이와 관계를 발견하는 경험.</a:t>
            </a:r>
          </a:p>
        </p:txBody>
      </p:sp>
      <p:pic>
        <p:nvPicPr>
          <p:cNvPr id="6" name="Picture 5" descr="atlas-wo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1425702"/>
            <a:ext cx="4724400" cy="3732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7700" y="5753100"/>
            <a:ext cx="5486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 i="0" lang="ko-KR">
                <a:solidFill>
                  <a:srgbClr val="657369"/>
                </a:solidFill>
                <a:latin typeface="Noto Sans CJK KR"/>
              </a:rPr>
              <a:t>A 대안 / 같은 지도 안에서 펼치는 향의 언어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단어는 함께 쓰이지만, 같은 정보는 아닙니다.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전체 방향, 구체적인 대상, 느껴지는 방식이 한 문장에 섞입니다.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164080"/>
            <a:ext cx="3429000" cy="281178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340" y="235458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● 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340" y="277368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Woody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3627120"/>
            <a:ext cx="3017520" cy="1249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큰 방향은 알지만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어떤 나무의 인상인지 막연함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2164080"/>
            <a:ext cx="3429000" cy="281178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235458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◇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277368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Sandalwood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240" y="3627120"/>
            <a:ext cx="3017520" cy="1249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대상을 알아도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어떻게 느껴지는지 막연함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399" y="2164080"/>
            <a:ext cx="3429000" cy="281178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9140" y="235458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○ DESCRIPTOR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9140" y="277368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Creamy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9140" y="3627120"/>
            <a:ext cx="3017520" cy="1249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부드럽다는 말과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노트 사이의 관계가 막연함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5364480"/>
            <a:ext cx="10972800" cy="678180"/>
          </a:xfrm>
          <a:prstGeom prst="rect">
            <a:avLst/>
          </a:prstGeom>
          <a:solidFill>
            <a:srgbClr val="DEF1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" y="5532120"/>
            <a:ext cx="1043940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질문: 무엇을 설명하는 단어이며, 어디에 주목하면 구별될까요?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02 / CONCEPT &amp; 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전체 구조를 남겨둔 채, 깊이 들어갑니다.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8계열 → 계열 선택 → 노트와 특징 → 상세 설명 → 필요한 심화 비교</a:t>
            </a:r>
          </a:p>
        </p:txBody>
      </p:sp>
      <p:pic>
        <p:nvPicPr>
          <p:cNvPr id="5" name="Picture 4" descr="wireframe-expa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2057400"/>
            <a:ext cx="7284720" cy="3642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200" y="2209800"/>
            <a:ext cx="30480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THE A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766060"/>
            <a:ext cx="3009900" cy="2065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같은 지도 안에서 펼침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다른 7계열은 맥락으로 유지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비교는 선택한 개념 안에서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03 / INTENDED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탐색 뒤에는 무엇을 새롭게 읽을까요?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110740"/>
            <a:ext cx="2019300" cy="25527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9620" y="2362200"/>
            <a:ext cx="17145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FEEL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620" y="2926080"/>
            <a:ext cx="1714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차분한 호기심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620" y="3665220"/>
            <a:ext cx="17145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조용한 편집 공간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9400" y="2110740"/>
            <a:ext cx="2019300" cy="25527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9420" y="2362200"/>
            <a:ext cx="17145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9420" y="2926080"/>
            <a:ext cx="1714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역할의 차이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9420" y="3665220"/>
            <a:ext cx="17145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계열·노트·표현 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110740"/>
            <a:ext cx="2019300" cy="25527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9220" y="2362200"/>
            <a:ext cx="17145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9220" y="2926080"/>
            <a:ext cx="1714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겹치는 특징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9220" y="3665220"/>
            <a:ext cx="17145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한 노트의 여러 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9000" y="2110740"/>
            <a:ext cx="2019300" cy="25527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9020" y="2362200"/>
            <a:ext cx="17145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9020" y="2926080"/>
            <a:ext cx="1714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연결의 의미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9020" y="3665220"/>
            <a:ext cx="17145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동의어나 하위 분류가 아님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48800" y="2110740"/>
            <a:ext cx="2019300" cy="25527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8820" y="2362200"/>
            <a:ext cx="17145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8820" y="2926080"/>
            <a:ext cx="1714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직접 탐색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8820" y="3665220"/>
            <a:ext cx="17145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선택·연결·비교·복귀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105400"/>
            <a:ext cx="10972800" cy="944880"/>
          </a:xfrm>
          <a:prstGeom prst="rect">
            <a:avLst/>
          </a:prstGeom>
          <a:solidFill>
            <a:srgbClr val="DEF1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440" y="5311140"/>
            <a:ext cx="104394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80" b="0" i="0" lang="ko-KR">
                <a:solidFill>
                  <a:srgbClr val="263D32"/>
                </a:solidFill>
                <a:latin typeface="Noto Sans CJK KR"/>
              </a:rPr>
              <a:t>“우디는 그냥 나무 향?” → “같은 방향에서도 마른 결과 매끈함을 따로 관찰할 수 있겠다.”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04 / THE KNOWLEDGE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데이터는 다섯 유형. 화면은 필요한 깊이만.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다섯 가지를 동등한 메뉴나 하나의 카테고리 트리로 만들지 않습니다.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026920"/>
            <a:ext cx="10972800" cy="64770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340" y="2194560"/>
            <a:ext cx="1943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Georgia"/>
              </a:rPr>
              <a:t>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202180"/>
            <a:ext cx="2552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큰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2600" y="2217420"/>
            <a:ext cx="3733799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Floral · Woody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4060" y="2217420"/>
            <a:ext cx="181356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657369"/>
                </a:solidFill>
                <a:latin typeface="Noto Sans CJK KR"/>
              </a:rPr>
              <a:t>지도 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804160"/>
            <a:ext cx="10972800" cy="64770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340" y="2971800"/>
            <a:ext cx="1943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Georgia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979420"/>
            <a:ext cx="2552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연상되는 대상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2600" y="2994660"/>
            <a:ext cx="3733799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Rose · Musk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4060" y="2994660"/>
            <a:ext cx="181356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657369"/>
                </a:solidFill>
                <a:latin typeface="Noto Sans CJK KR"/>
              </a:rPr>
              <a:t>선택 후 펼침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3581400"/>
            <a:ext cx="10972800" cy="64770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340" y="3749039"/>
            <a:ext cx="1943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Georgia"/>
              </a:rPr>
              <a:t>Descriptor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756660"/>
            <a:ext cx="2552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질감과 인상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2600" y="3771900"/>
            <a:ext cx="3733799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Dry · Creamy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4060" y="3771900"/>
            <a:ext cx="181356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657369"/>
                </a:solidFill>
                <a:latin typeface="Noto Sans CJK KR"/>
              </a:rPr>
              <a:t>관련 특징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4358640"/>
            <a:ext cx="10972800" cy="647700"/>
          </a:xfrm>
          <a:prstGeom prst="rect">
            <a:avLst/>
          </a:prstGeom>
          <a:solidFill>
            <a:srgbClr val="F0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340" y="4526280"/>
            <a:ext cx="1943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Georgia"/>
              </a:rPr>
              <a:t>Accord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533900"/>
            <a:ext cx="2552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조합으로 만드는 인상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2600" y="4549140"/>
            <a:ext cx="3733799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Amber Accord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4060" y="4549140"/>
            <a:ext cx="181356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657369"/>
                </a:solidFill>
                <a:latin typeface="Noto Sans CJK KR"/>
              </a:rPr>
              <a:t>상세에서 공개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135880"/>
            <a:ext cx="10972800" cy="647700"/>
          </a:xfrm>
          <a:prstGeom prst="rect">
            <a:avLst/>
          </a:prstGeom>
          <a:solidFill>
            <a:srgbClr val="F0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340" y="5303520"/>
            <a:ext cx="1943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Georgia"/>
              </a:rPr>
              <a:t>Material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5311140"/>
            <a:ext cx="2552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실제로 구현하는 향료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2600" y="5326380"/>
            <a:ext cx="3733799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Rose Absolute · Vanillin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4060" y="5326380"/>
            <a:ext cx="181356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657369"/>
                </a:solidFill>
                <a:latin typeface="Noto Sans CJK KR"/>
              </a:rPr>
              <a:t>필요할 때 설명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05 / ORGANIZING THE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Type과 Facets를 분리합니다.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관련되어도, 같은 종류나 고정된 하위 분류는 아닙니다.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148840"/>
            <a:ext cx="5105400" cy="27813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340" y="2339340"/>
            <a:ext cx="46939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EXAMPLE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340" y="2758440"/>
            <a:ext cx="46939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◇ Sandalwood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3611880"/>
            <a:ext cx="469392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Type: Note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관련 방향: Woody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가능한 Facets: Creamy · Warm · Dry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7000" y="2148840"/>
            <a:ext cx="5105400" cy="27813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82740" y="2339340"/>
            <a:ext cx="46939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EXAMPLE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2740" y="2758440"/>
            <a:ext cx="46939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◇ Musk ≠ ○ Musky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2740" y="3611880"/>
            <a:ext cx="469392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Musk: 연상되는 노트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Musky: 관련 인상을 설명하는 표현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Clean · Powdery · Warm은 고정 특성이 아님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71160"/>
            <a:ext cx="10896600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80" b="0" i="0" lang="ko-KR">
                <a:solidFill>
                  <a:srgbClr val="263D32"/>
                </a:solidFill>
                <a:latin typeface="Noto Sans CJK KR"/>
              </a:rPr>
              <a:t>관계에는 종류와 이유를 저장합니다. ‘연관된다’는 선 하나로 설명을 대신하지 않습니다.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06 / THE CLASSIFICATION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처음 8계열은 하나의 기준으로 조직합니다.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The Perfume Society의 8계열 / 다른 체계는 비교 참고로 구분합니다.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171700"/>
            <a:ext cx="2552700" cy="9525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438400"/>
            <a:ext cx="2171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280" b="0" i="0" lang="ko-KR">
                <a:solidFill>
                  <a:srgbClr val="263D32"/>
                </a:solidFill>
                <a:latin typeface="Georgia"/>
              </a:rPr>
              <a:t>Fresh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0900" y="2171700"/>
            <a:ext cx="2552700" cy="9525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1400" y="2438400"/>
            <a:ext cx="2171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280" b="0" i="0" lang="ko-KR">
                <a:solidFill>
                  <a:srgbClr val="263D32"/>
                </a:solidFill>
                <a:latin typeface="Georgia"/>
              </a:rPr>
              <a:t>Floral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71700"/>
            <a:ext cx="2552700" cy="9525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2700" y="2438400"/>
            <a:ext cx="2171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280" b="0" i="0" lang="ko-KR">
                <a:solidFill>
                  <a:srgbClr val="263D32"/>
                </a:solidFill>
                <a:latin typeface="Georgia"/>
              </a:rPr>
              <a:t>Floriental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3500" y="2171700"/>
            <a:ext cx="2552700" cy="9525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438400"/>
            <a:ext cx="2171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280" b="0" i="0" lang="ko-KR">
                <a:solidFill>
                  <a:srgbClr val="263D32"/>
                </a:solidFill>
                <a:latin typeface="Georgia"/>
              </a:rPr>
              <a:t>Ambrée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3390900"/>
            <a:ext cx="2552700" cy="9525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3657600"/>
            <a:ext cx="2171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280" b="0" i="0" lang="ko-KR">
                <a:solidFill>
                  <a:srgbClr val="263D32"/>
                </a:solidFill>
                <a:latin typeface="Georgia"/>
              </a:rPr>
              <a:t>Gourmand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0900" y="3390900"/>
            <a:ext cx="2552700" cy="9525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1400" y="3657600"/>
            <a:ext cx="2171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280" b="0" i="0" lang="ko-KR">
                <a:solidFill>
                  <a:srgbClr val="263D32"/>
                </a:solidFill>
                <a:latin typeface="Georgia"/>
              </a:rPr>
              <a:t>Chypre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390900"/>
            <a:ext cx="2552700" cy="9525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2700" y="3657600"/>
            <a:ext cx="2171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280" b="0" i="0" lang="ko-KR">
                <a:solidFill>
                  <a:srgbClr val="263D32"/>
                </a:solidFill>
                <a:latin typeface="Georgia"/>
              </a:rPr>
              <a:t>Woody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500" y="3390900"/>
            <a:ext cx="2552700" cy="9525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657600"/>
            <a:ext cx="2171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280" b="0" i="0" lang="ko-KR">
                <a:solidFill>
                  <a:srgbClr val="263D32"/>
                </a:solidFill>
                <a:latin typeface="Georgia"/>
              </a:rPr>
              <a:t>Fougère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74920"/>
            <a:ext cx="10668000" cy="1021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657369"/>
                </a:solidFill>
                <a:latin typeface="Noto Sans CJK KR"/>
              </a:rPr>
              <a:t>Michael Edwards: 다른 세분화와 연속적 휠의 참고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657369"/>
                </a:solidFill>
                <a:latin typeface="Noto Sans CJK KR"/>
              </a:rPr>
              <a:t>원칙: 여러 체계를 섞어 하나의 공식 분류처럼 제시하지 않음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657369"/>
                </a:solidFill>
                <a:latin typeface="Noto Sans CJK KR"/>
              </a:rPr>
              <a:t>노트·표현의 연결과 공간 배치는 프로젝트의 교육용 설계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07 / REFERENCES &amp; INSPIRATION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참고한 형식보다, 설계에 가져온 원칙.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034540"/>
            <a:ext cx="10972800" cy="76962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" y="2225040"/>
            <a:ext cx="354330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The Perfume Society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25040"/>
            <a:ext cx="304800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8계열 기준과 원료·노트 용례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99" y="2225040"/>
            <a:ext cx="342900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큰 방향과 실제 향료의 역할 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948940"/>
            <a:ext cx="10972800" cy="76962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3139440"/>
            <a:ext cx="354330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Michael Edwards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139440"/>
            <a:ext cx="304800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다른 기준의 세부 분류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3139440"/>
            <a:ext cx="342900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일관된 기준과 다른 체계의 차이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863339"/>
            <a:ext cx="10972800" cy="76962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4053840"/>
            <a:ext cx="354330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Fragrantica / Scent Verdict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53840"/>
            <a:ext cx="304800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노트·제품·공간 탐색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799" y="4053840"/>
            <a:ext cx="342900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정의보다 관계를 먼저 읽는 경험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777740"/>
            <a:ext cx="10972800" cy="76962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" y="4968240"/>
            <a:ext cx="354330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Explorable Explanations / 관찰 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68240"/>
            <a:ext cx="304800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조작으로 이해하는 설명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799" y="4968240"/>
            <a:ext cx="342900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선택·펼침·주석에 정보의 역할 부여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96940"/>
            <a:ext cx="10668000" cy="281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 i="0" lang="ko-KR">
                <a:solidFill>
                  <a:srgbClr val="657369"/>
                </a:solidFill>
                <a:latin typeface="Noto Sans CJK KR"/>
              </a:rPr>
              <a:t>제공된 업데이트 리서치에 기반한 분석 / 원문 접근 상태와 편집 범위는 부록에서 구분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08 / MOOD &amp; VISION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Quiet. Tactile. Connected. Curious.</a:t>
            </a:r>
          </a:p>
        </p:txBody>
      </p:sp>
      <p:pic>
        <p:nvPicPr>
          <p:cNvPr id="4" name="Picture 3" descr="mood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1882139"/>
            <a:ext cx="6115050" cy="40766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15400" y="2156460"/>
            <a:ext cx="2705100" cy="2727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종이 위의 관찰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가느다란 관계선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질감의 대비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조용한 발견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0" y="5562600"/>
            <a:ext cx="27051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기존 자체 생성 소재 보드.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실제 향료 사진이나 측정값 아님.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09 / VISUAL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기존 지도와 비교 화면의 목소리를 유지합니다.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981199"/>
            <a:ext cx="2552700" cy="990599"/>
          </a:xfrm>
          <a:prstGeom prst="rect">
            <a:avLst/>
          </a:prstGeom>
          <a:solidFill>
            <a:srgbClr val="F6F5EF"/>
          </a:solidFill>
          <a:ln w="7620">
            <a:solidFill>
              <a:srgbClr val="D7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7700" y="3139440"/>
            <a:ext cx="2514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40" b="0" i="0" lang="ko-KR">
                <a:solidFill>
                  <a:srgbClr val="657369"/>
                </a:solidFill>
                <a:latin typeface="Noto Sans CJK KR"/>
              </a:rPr>
              <a:t>PAPER / #F6F5EF</a:t>
            </a:r>
          </a:p>
        </p:txBody>
      </p:sp>
      <p:sp>
        <p:nvSpPr>
          <p:cNvPr id="6" name="Rectangle 5"/>
          <p:cNvSpPr/>
          <p:nvPr/>
        </p:nvSpPr>
        <p:spPr>
          <a:xfrm>
            <a:off x="3390900" y="1981199"/>
            <a:ext cx="2552700" cy="990599"/>
          </a:xfrm>
          <a:prstGeom prst="rect">
            <a:avLst/>
          </a:prstGeom>
          <a:solidFill>
            <a:srgbClr val="263D32"/>
          </a:solidFill>
          <a:ln w="7620">
            <a:solidFill>
              <a:srgbClr val="D7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3139440"/>
            <a:ext cx="2514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40" b="0" i="0" lang="ko-KR">
                <a:solidFill>
                  <a:srgbClr val="657369"/>
                </a:solidFill>
                <a:latin typeface="Noto Sans CJK KR"/>
              </a:rPr>
              <a:t>PINE / #263D32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81199"/>
            <a:ext cx="2552700" cy="990599"/>
          </a:xfrm>
          <a:prstGeom prst="rect">
            <a:avLst/>
          </a:prstGeom>
          <a:solidFill>
            <a:srgbClr val="DEF19F"/>
          </a:solidFill>
          <a:ln w="7620">
            <a:solidFill>
              <a:srgbClr val="D7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0300" y="3139440"/>
            <a:ext cx="2514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40" b="0" i="0" lang="ko-KR">
                <a:solidFill>
                  <a:srgbClr val="657369"/>
                </a:solidFill>
                <a:latin typeface="Noto Sans CJK KR"/>
              </a:rPr>
              <a:t>SELECT / #DEF19F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3500" y="1981199"/>
            <a:ext cx="2552700" cy="990599"/>
          </a:xfrm>
          <a:prstGeom prst="rect">
            <a:avLst/>
          </a:prstGeom>
          <a:solidFill>
            <a:srgbClr val="BC8653"/>
          </a:solidFill>
          <a:ln w="7620">
            <a:solidFill>
              <a:srgbClr val="D7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91600" y="3139440"/>
            <a:ext cx="2514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40" b="0" i="0" lang="ko-KR">
                <a:solidFill>
                  <a:srgbClr val="657369"/>
                </a:solidFill>
                <a:latin typeface="Noto Sans CJK KR"/>
              </a:rPr>
              <a:t>COMPARE B / #BC8653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3764279"/>
            <a:ext cx="56007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3660" b="0" i="1" lang="ko-KR">
                <a:solidFill>
                  <a:srgbClr val="263D32"/>
                </a:solidFill>
                <a:latin typeface="Georgia"/>
              </a:rPr>
              <a:t>A map of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3660" b="0" i="1" lang="ko-KR">
                <a:solidFill>
                  <a:srgbClr val="263D32"/>
                </a:solidFill>
                <a:latin typeface="Georgia"/>
              </a:rPr>
              <a:t>the invisible.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26380"/>
            <a:ext cx="541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Georgia serif / DM Sans + 한국어 sans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본문과 선택 표시의 대비를 유지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800" y="3695700"/>
            <a:ext cx="4800600" cy="227076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2780" y="3939540"/>
            <a:ext cx="4381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80" b="0" i="0" lang="ko-KR">
                <a:solidFill>
                  <a:srgbClr val="263D32"/>
                </a:solidFill>
                <a:latin typeface="Noto Sans CJK KR"/>
              </a:rPr>
              <a:t>● Family    ◇ Note    ○ Descriptor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4556760"/>
            <a:ext cx="43053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연두: 현재 관심 / 약화: 남아 있는 맥락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질감 이미지 + 장면 + What to Notice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펼침·이동의 목적: 현재 위치와 관계를 읽기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10 / SITEMAP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전체에서 세부로, 정보의 깊이를 늘립니다.</a:t>
            </a:r>
          </a:p>
        </p:txBody>
      </p:sp>
      <p:pic>
        <p:nvPicPr>
          <p:cNvPr id="4" name="Picture 3" descr="sit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" y="1737360"/>
            <a:ext cx="9189720" cy="45948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11 /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세부로 가도, 전체 위치를 잃지 않습니다.</a:t>
            </a:r>
          </a:p>
        </p:txBody>
      </p:sp>
      <p:pic>
        <p:nvPicPr>
          <p:cNvPr id="4" name="Picture 3" descr="user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905000"/>
            <a:ext cx="8686800" cy="4343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12 /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소개는 간결하게. 지도는 중심에.</a:t>
            </a:r>
          </a:p>
        </p:txBody>
      </p:sp>
      <p:pic>
        <p:nvPicPr>
          <p:cNvPr id="4" name="Picture 3" descr="wireframe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882139"/>
            <a:ext cx="8610600" cy="43053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13 / THE ATLAS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Woody를 선택하면, 같은 지도 안에서 펼쳐집니다.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수정된 실제 웹사이트 캡처 / 다른 7계열은 남아 있습니다.</a:t>
            </a:r>
          </a:p>
        </p:txBody>
      </p:sp>
      <p:pic>
        <p:nvPicPr>
          <p:cNvPr id="5" name="Picture 4" descr="atlas-wo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937" y="2057400"/>
            <a:ext cx="5063924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39200" y="2225040"/>
            <a:ext cx="2705100" cy="2613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60" b="0" i="0" lang="ko-KR">
                <a:solidFill>
                  <a:srgbClr val="263D32"/>
                </a:solidFill>
                <a:latin typeface="Noto Sans CJK KR"/>
              </a:rPr>
              <a:t>01 전체 8계열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60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60" b="0" i="0" lang="ko-KR">
                <a:solidFill>
                  <a:srgbClr val="263D32"/>
                </a:solidFill>
                <a:latin typeface="Noto Sans CJK KR"/>
              </a:rPr>
              <a:t>02 선택한 계열 강조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60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60" b="0" i="0" lang="ko-KR">
                <a:solidFill>
                  <a:srgbClr val="263D32"/>
                </a:solidFill>
                <a:latin typeface="Noto Sans CJK KR"/>
              </a:rPr>
              <a:t>03 관련 노트·표현 펼침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60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60" b="0" i="0" lang="ko-KR">
                <a:solidFill>
                  <a:srgbClr val="263D32"/>
                </a:solidFill>
                <a:latin typeface="Noto Sans CJK KR"/>
              </a:rPr>
              <a:t>04 설명이 있는 관계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14 / DEEPER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Musk 안에서 더 궁금해질 때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비교를 닫으면 같은 지도 위치로 돌아옵니다.</a:t>
            </a:r>
          </a:p>
        </p:txBody>
      </p:sp>
      <p:pic>
        <p:nvPicPr>
          <p:cNvPr id="5" name="Picture 4" descr="compare-mu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461" y="2004060"/>
            <a:ext cx="5481277" cy="40766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77400" y="2286000"/>
            <a:ext cx="1905000" cy="289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두 인상 카드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사례별 관찰 항목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임의의 점수 없음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구체적인 질문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지도 상태 보존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15 / RESPONSIVE INTENTIONS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공간 관계를 읽는 순서로 바꿉니다.</a:t>
            </a:r>
          </a:p>
        </p:txBody>
      </p:sp>
      <p:pic>
        <p:nvPicPr>
          <p:cNvPr id="4" name="Picture 3" descr="wireframe-respon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60" y="1882139"/>
            <a:ext cx="84124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87440"/>
            <a:ext cx="102870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 i="0" lang="ko-KR">
                <a:solidFill>
                  <a:srgbClr val="657369"/>
                </a:solidFill>
                <a:latin typeface="Noto Sans CJK KR"/>
              </a:rPr>
              <a:t>키보드·터치·초점 복원 · 움직임 감소 설정 · hover에 필수 정보를 숨기지 않음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APPENDIX A / DESIGN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분류와 조직화의 선택을 설명합니다.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866899"/>
            <a:ext cx="10972800" cy="68580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480" y="2034540"/>
            <a:ext cx="3238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분류 체계가 여러 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200" y="203454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8계열 기준을 선택하고 다른 체계는 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800" y="2042160"/>
            <a:ext cx="192786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일관된 탐색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82240"/>
            <a:ext cx="10972800" cy="68580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80" y="2849880"/>
            <a:ext cx="3238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정보 역할이 섞임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200" y="284988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다섯 데이터 타입과 화면 구조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0" y="2857500"/>
            <a:ext cx="192786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혼동 감소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497580"/>
            <a:ext cx="10972800" cy="68580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80" y="3665220"/>
            <a:ext cx="3238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한 단어의 특징이 겹침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366522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Type과 Facets를 분리해 다대다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800" y="3672840"/>
            <a:ext cx="192786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복합적인 인상 표현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312920"/>
            <a:ext cx="10972800" cy="68580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" y="4480560"/>
            <a:ext cx="3238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처음부터 전문 정보가 많음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200" y="448056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Accord·Material을 단계적으로 공개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800" y="4488180"/>
            <a:ext cx="192786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탐색 부담 감소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128260"/>
            <a:ext cx="10972800" cy="68580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480" y="5295900"/>
            <a:ext cx="3238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세부에서 현재 위치를 잃음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7200" y="529590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</a:rPr>
              <a:t>A 대안으로 다른 7계열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800" y="5303520"/>
            <a:ext cx="192786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맥락 유지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APPENDIX B / IMPLEMENTATION &amp; FIELD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기능의 검증과 이해의 검증을 구분합니다.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118360"/>
            <a:ext cx="3429000" cy="32004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5340" y="230886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PREPARED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340" y="272796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8계열 · 5유형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340" y="3581400"/>
            <a:ext cx="3017520" cy="163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42개 콘텐츠 예시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94개 설명이 있는 관계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Type / Facets 분리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Accord·Material은 상세에서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500" y="2118360"/>
            <a:ext cx="3429000" cy="32004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7240" y="230886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240" y="272796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브라우저 테스트 15개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3581400"/>
            <a:ext cx="3017520" cy="163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전체와 모든 계열의 펼침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개념 내부 비교와 상태 복귀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320–1440px 레이아웃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키보드와 움직임 감소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3399" y="2118360"/>
            <a:ext cx="3429000" cy="32004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9140" y="230886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NEXT TO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9140" y="272796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사용자의 이해 변화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9140" y="3581400"/>
            <a:ext cx="3017520" cy="163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유형의 차이를 설명하는가?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전체 위치를 유지하는가?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다음 시향의 질문을 갖는가?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전문가가 용례를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76900"/>
            <a:ext cx="1066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범위 제외: 시간 변화 · 실제 조향 예측 · 자동 계열 판정 · 제품 추천 · 근거 없는 유사도 점수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APPENDIX C /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기준, 편집, 시각 자료의 근거를 구분합니다.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66800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  <a:hlinkClick r:id="rId2"/>
              </a:rPr>
              <a:t>The Perfume Society · Fragrance Families 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37460"/>
            <a:ext cx="1066800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  <a:hlinkClick r:id="rId3"/>
              </a:rPr>
              <a:t>Michael Edwards · Fragrances of the World 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08960"/>
            <a:ext cx="1066800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  <a:hlinkClick r:id="rId4"/>
              </a:rPr>
              <a:t>The Perfume Society · Ingredients 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80460"/>
            <a:ext cx="1066800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  <a:hlinkClick r:id="rId5"/>
              </a:rPr>
              <a:t>Fragrantica · Perfume Finder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1066800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  <a:hlinkClick r:id="rId6"/>
              </a:rPr>
              <a:t>Scent Verdict · Scent Wheel ↗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5090160"/>
            <a:ext cx="10972800" cy="1104900"/>
          </a:xfrm>
          <a:prstGeom prst="rect">
            <a:avLst/>
          </a:prstGeom>
          <a:solidFill>
            <a:srgbClr val="E9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5257800"/>
            <a:ext cx="10439400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원문 새 접근: 프록시 403으로 제한 / 제공된 리서치와 편집 용례의 검토 상태를 표시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실제 화면 캡처와 배치도 구분 / 무드보드는 자체 생성한 감각 비유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거리·크기·색은 측정된 향의 강도나 유사도가 아닙니다.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APPENDIX D /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탐색 뒤, 어디에 주목할지 말할 수 있나요?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34540"/>
            <a:ext cx="6477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59" b="0" i="0" lang="ko-KR">
                <a:solidFill>
                  <a:srgbClr val="657369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034540"/>
            <a:ext cx="990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0" i="0" lang="ko-KR">
                <a:solidFill>
                  <a:srgbClr val="263D32"/>
                </a:solidFill>
                <a:latin typeface="Noto Sans CJK KR"/>
              </a:rPr>
              <a:t>Family · Note · Descriptor는 무엇이 다른가요?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42260"/>
            <a:ext cx="6477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59" b="0" i="0" lang="ko-KR">
                <a:solidFill>
                  <a:srgbClr val="657369"/>
                </a:solidFill>
                <a:latin typeface="Georg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842260"/>
            <a:ext cx="990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0" i="0" lang="ko-KR">
                <a:solidFill>
                  <a:srgbClr val="263D32"/>
                </a:solidFill>
                <a:latin typeface="Noto Sans CJK KR"/>
              </a:rPr>
              <a:t>Sandalwood가 Creamy의 하위 항목인가요?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49980"/>
            <a:ext cx="6477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59" b="0" i="0" lang="ko-KR">
                <a:solidFill>
                  <a:srgbClr val="657369"/>
                </a:solidFill>
                <a:latin typeface="Georg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649980"/>
            <a:ext cx="990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0" i="0" lang="ko-KR">
                <a:solidFill>
                  <a:srgbClr val="263D32"/>
                </a:solidFill>
                <a:latin typeface="Noto Sans CJK KR"/>
              </a:rPr>
              <a:t>Musk와 Musky는 어떤 관계인가요?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57700"/>
            <a:ext cx="6477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59" b="0" i="0" lang="ko-KR">
                <a:solidFill>
                  <a:srgbClr val="657369"/>
                </a:solidFill>
                <a:latin typeface="Georgia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457700"/>
            <a:ext cx="990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0" i="0" lang="ko-KR">
                <a:solidFill>
                  <a:srgbClr val="263D32"/>
                </a:solidFill>
                <a:latin typeface="Noto Sans CJK KR"/>
              </a:rPr>
              <a:t>세부를 읽으며 다른 계열로 이동하기 쉬웠나요?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501640"/>
            <a:ext cx="10972800" cy="670560"/>
          </a:xfrm>
          <a:prstGeom prst="rect">
            <a:avLst/>
          </a:prstGeom>
          <a:solidFill>
            <a:srgbClr val="DEF1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060" y="5684520"/>
            <a:ext cx="10363200" cy="35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최종 목표: 전체 구조를 이해하고, 작은 차이를 관찰할 기준을 얻는 것.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APPENDIX E /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요구사항과 제출 자료를 연결했습니다.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859280"/>
            <a:ext cx="10972800" cy="40386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5480"/>
            <a:ext cx="4076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Concept / Premise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05400" y="1935480"/>
            <a:ext cx="624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3장 / PROJECT-PROPOSAL.md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331720"/>
            <a:ext cx="10972800" cy="40386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07920"/>
            <a:ext cx="4076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Intended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5400" y="2407920"/>
            <a:ext cx="624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4장 / Feel · Notice · Discover · Understand · 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804160"/>
            <a:ext cx="10972800" cy="40386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4076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References / Inspiration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5400" y="2880360"/>
            <a:ext cx="624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8장·19장 / REFERENCE-NOTES.md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276600"/>
            <a:ext cx="10972800" cy="40386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52800"/>
            <a:ext cx="4076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Mood / Vision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5400" y="3352800"/>
            <a:ext cx="624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9장 / assets/moodboard.png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749039"/>
            <a:ext cx="10972800" cy="40386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25240"/>
            <a:ext cx="4076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Visual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5400" y="3825240"/>
            <a:ext cx="624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10장 / 기존 화면의 색상·서체·기호·강조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4221480"/>
            <a:ext cx="10972800" cy="40386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4076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Sitemap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5400" y="4297680"/>
            <a:ext cx="624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11장 / assets/sitemap.svg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4693920"/>
            <a:ext cx="10972800" cy="40386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70120"/>
            <a:ext cx="4076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User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5400" y="4770120"/>
            <a:ext cx="624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12장 / assets/user-flow.svg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166360"/>
            <a:ext cx="10972800" cy="40386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42560"/>
            <a:ext cx="4076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Wireframes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5400" y="5242560"/>
            <a:ext cx="624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13장 / wireframe-desktop·expansion·compare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5638800"/>
            <a:ext cx="10972800" cy="40386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4076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Responsive Intentions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5400" y="5715000"/>
            <a:ext cx="624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16장 / wireframe-responsive.svg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SCENT ATLAS / MIDTERM DESIGN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