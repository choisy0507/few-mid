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향수 설명을 읽어도 차이를 상상하기 어렵다는 경험에서 시작했습니다. 하나의 향을 여러 관점으로 읽으며 그 관계를 이해하는 사이트를 제안합니다.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25초. 단어의 정의만으로는 마른 나무 결과 둥근 목질감을 구별하기 어렵습니다. 정보의 양보다 정보를 해석하는 기준에 초점을 맞춥니다.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25초. Notes, Feel, Family를 바꿔 보는 경험이 핵심입니다. 장면은 유지되고 읽는 정보가 달라집니다. 실제 냄새를 재현하기보다 설명을 읽는 단서를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25초. Rose는 노트, Creamy는 감각 표현, Woody는 계열입니다. 연결될 수 있지만 동의어는 아닙니다. 노트가 성분표나 배합 비율을 뜻하지 않는다는 점도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사용자는 차분한 호기심에서 출발해 대상, 질감, 계열의 차이를 알아차리고 다음 시향의 질문을 얻습니다. 이 학습 효과는 피드백으로 검증할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분류표나 제품 목록보다 구체적인 질문을 먼저 보여줍니다. 사용자의 조작이 설명을 읽는 과정에 연결됩니다. 시장 전체에서 유일한 서비스라고 주장하지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25초. 향수 검색, 향 휠, 퀴즈의 정보 구조를 참고합니다. 여기에 직접 조작하는 설명과 관찰 노트의 원칙을 연결합니다. 어떤 모습보다 무엇을 배웠는지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15초. 이 프로젝트를 위해 만든 소재 콜라주입니다. 실제 향료의 증거 사진은 아니며, 서로 다른 질감을 관찰하는 분위기를 제안합니다.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종이색 바탕과 깊은 초록은 읽기, 연두는 현재 선택을 위한 색입니다. 기호와 유형 이름을 함께 사용해 색만으로 정보를 구분하지 않습니다. 움직임은 선택된 대상을 알려줍니다.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15초. 중심 사례, 관점, 비교, 관계, 콘텐츠 기준으로 이어지는 한 페이지 구조입니다. 관점은 별도 페이지가 아니고 사용자가 자유롭게 오갈 수 있는 상태입니다.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15초. 대표 여정은 대상부터 질감과 비교로 이어집니다. 그러나 Feel이나 Family부터 시작할 수 있고 전환할 때 선택한 사례를 유지합니다.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질문은 왜 탐색하는지, 세 관점은 무엇을 읽는지, 장면은 어디를 보는지 알려줍니다. 설명 옆의 관찰 질문과 하단 비교가 다음 행동을 연결합니다.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25초. 탭을 누를 때 설명 카드만 바뀌는 것이 아니라 강조의 단위가 달라집니다. 개별 대상, 여러 요소를 가로지르는 질감, 큰 방향을 묶는 영역이라는 차이를 보이게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45초. 별도 HTML 프로토타입을 열어 Notes→Feel→Family를 전환하고 나무 노트 사례를 바꿉니다. 하나의 요소를 선택하면 주변이 물러납니다. 기존 첫 화면 전체를 교체한 것은 아니고 새 방향을 시험한 디자인 실험입니다.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20초. 장면과 설명을 나란히 보다가 좁아지면 쌓습니다. 관점·사례·선택은 유지합니다. hover에 필수 정보를 숨기지 않고 키보드와 터치로 같은 정보를 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질문이 나오면 사용합니다. 노트 하나를 바꾸는 비교에서 장미의 형태와 위치가 남습니다. 두 대표 묘사를 관찰하는 교육용 사례이며 배합 결과의 예측이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기존 웹사이트의 관계 지도는 구현되어 있고 11개 테스트를 통과했습니다. 제출용 관점 전환 프로토타입도 별도로 실행됩니다. 학습 효과와 향 콘텐츠는 아직 사용자·전문가 검토가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과제 요구사항에 연결합니다. 이야기, 경험, 시각 언어, 공간, 반응이라는 수업 주제가 같은 대표 화면에 함께 들어갑니다. 기술을 모두 보여주기보다 필요한 반응을 선택했습니다.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외부 사이트는 네트워크 제한으로 새로 원문 확인을 못 했습니다. 제공된 대화와 URL 기반의 분석을 원문 조사와 구분했습니다. 무드보드는 자체 생성, 다이어그램은 직접 설계, 화면은 실제 프로토타입 캡처입니다.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피드백에서 새로 배운 말의 수보다 차이를 관찰하는 기준을 확인하겠습니다. 관점 전환이 실제로 도움 되는지, 이미지를 측정값으로 오해하지 않는지 물어봅니다.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요구사항별로 발표 자료와 상세 문서, 시각 자료를 대응시킨 체크리스트입니다. 발표는 1–15장 중심으로 약 5–6분, 16–21장은 부록으로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ragrantica.com/perfume-finder/" TargetMode="External"/><Relationship Id="rId3" Type="http://schemas.openxmlformats.org/officeDocument/2006/relationships/hyperlink" Target="https://scentverdict.com/guides/scentwheel" TargetMode="External"/><Relationship Id="rId4" Type="http://schemas.openxmlformats.org/officeDocument/2006/relationships/hyperlink" Target="https://www.fragrancesoftheworld.com/" TargetMode="External"/><Relationship Id="rId5" Type="http://schemas.openxmlformats.org/officeDocument/2006/relationships/hyperlink" Target="https://everfumed.com/find-your-scent-sign-quiz/" TargetMode="External"/><Relationship Id="rId6" Type="http://schemas.openxmlformats.org/officeDocument/2006/relationships/hyperlink" Target="https://worrydream.com/ExplorableExplanations/" TargetMode="External"/><Relationship Id="rId7" Type="http://schemas.openxmlformats.org/officeDocument/2006/relationships/hyperlink" Target="https://www.kinfolk.com/" TargetMode="External"/><Relationship Id="rId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FRONT-END WEB / WEEK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609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6480" b="0" i="0" lang="ko-KR">
                <a:solidFill>
                  <a:srgbClr val="263D32"/>
                </a:solidFill>
                <a:latin typeface="Georgia"/>
              </a:rPr>
              <a:t>The Anatomy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6480" b="0" i="0" lang="ko-KR">
                <a:solidFill>
                  <a:srgbClr val="263D32"/>
                </a:solidFill>
                <a:latin typeface="Georgia"/>
              </a:rPr>
              <a:t>of Scent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40" y="3276600"/>
            <a:ext cx="571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80" b="0" i="1" lang="ko-KR">
                <a:solidFill>
                  <a:srgbClr val="263D32"/>
                </a:solidFill>
                <a:latin typeface="Georgia"/>
              </a:rPr>
              <a:t>One scent. Three perspectives.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40" y="4000500"/>
            <a:ext cx="552450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하나의 향 설명을 여러 관점으로 읽고,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작은 차이를 직접 발견하는 웹 경험.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5615940"/>
            <a:ext cx="5638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19" b="0" i="0" lang="ko-KR">
                <a:solidFill>
                  <a:srgbClr val="657369"/>
                </a:solidFill>
                <a:latin typeface="Noto Sans CJK KR"/>
              </a:rPr>
              <a:t>MIDTERM DESIGN PROPOSAL · 2026</a:t>
            </a:r>
          </a:p>
        </p:txBody>
      </p:sp>
      <p:pic>
        <p:nvPicPr>
          <p:cNvPr id="7" name="Picture 6" descr="mood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1633220"/>
            <a:ext cx="4495800" cy="299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단어를 알아도, 차이는 남습니다.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“Woody = 나무 향” 다음에 이해해야 할 것은 무엇일까요?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133600"/>
            <a:ext cx="10972800" cy="1028700"/>
          </a:xfrm>
          <a:prstGeom prst="rect">
            <a:avLst/>
          </a:prstGeom>
          <a:solidFill>
            <a:srgbClr val="E9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300" y="2438400"/>
            <a:ext cx="10287000" cy="495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879" b="0" i="1" lang="ko-KR">
                <a:solidFill>
                  <a:srgbClr val="263D32"/>
                </a:solidFill>
                <a:latin typeface="Georgia"/>
              </a:rPr>
              <a:t>“Powdery floral with soft musk…”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3528060"/>
            <a:ext cx="3429000" cy="214884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340" y="371856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01 / MEANING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" y="413766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어떤 느낌인가?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340" y="4991100"/>
            <a:ext cx="3017520" cy="586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단어가 가리키는 대상과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질감이 막연합니다.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500" y="3528060"/>
            <a:ext cx="3429000" cy="214884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7240" y="371856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02 / 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240" y="413766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무엇이 다른가?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240" y="4991100"/>
            <a:ext cx="3017520" cy="586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비슷한 표현의 공통점과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구별 기준이 흐립니다.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399" y="3528060"/>
            <a:ext cx="3429000" cy="214884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9140" y="371856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03 / 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9140" y="413766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어디에 주목할까?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9140" y="4991100"/>
            <a:ext cx="3017520" cy="586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다음 시향에서 관찰할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구체적인 질문이 필요합니다.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02 / CONCEPT &amp; 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하나의 향을 읽는 세 가지 관점.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같은 장면에서 대상, 질감, 큰 방향을 번갈아 읽습니다.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" y="2171700"/>
            <a:ext cx="518160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4079" b="0" i="0" lang="ko-KR">
                <a:solidFill>
                  <a:srgbClr val="263D32"/>
                </a:solidFill>
                <a:latin typeface="Georgia"/>
              </a:rPr>
              <a:t>Read the scent.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4079" b="0" i="0" lang="ko-KR">
                <a:solidFill>
                  <a:srgbClr val="263D32"/>
                </a:solidFill>
                <a:latin typeface="Georgia"/>
              </a:rPr>
              <a:t>Reveal its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" y="4305300"/>
            <a:ext cx="5257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60" b="0" i="0" lang="ko-KR">
                <a:solidFill>
                  <a:srgbClr val="263D32"/>
                </a:solidFill>
                <a:latin typeface="Noto Sans CJK KR"/>
              </a:rPr>
              <a:t>향 설명 → 관점 전환 → 차이 관찰 → 관계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" y="5379720"/>
            <a:ext cx="533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657369"/>
                </a:solidFill>
                <a:latin typeface="Noto Sans CJK KR"/>
              </a:rPr>
              <a:t>대상: 용어가 익숙하지 않거나,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657369"/>
                </a:solidFill>
                <a:latin typeface="Noto Sans CJK KR"/>
              </a:rPr>
              <a:t>단어를 알아도 조합이 막연한 방문자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05600" y="2156460"/>
            <a:ext cx="4762500" cy="10668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26580" y="2346960"/>
            <a:ext cx="1752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760" b="0" i="0" lang="ko-KR">
                <a:solidFill>
                  <a:srgbClr val="263D32"/>
                </a:solidFill>
                <a:latin typeface="Georgia"/>
              </a:rPr>
              <a:t>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9200" y="2545080"/>
            <a:ext cx="2286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무엇을 떠올리나요?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05600" y="3421380"/>
            <a:ext cx="4762500" cy="1066800"/>
          </a:xfrm>
          <a:prstGeom prst="roundRect">
            <a:avLst>
              <a:gd name="adj" fmla="val 3000"/>
            </a:avLst>
          </a:prstGeom>
          <a:solidFill>
            <a:srgbClr val="DEF1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26580" y="3611880"/>
            <a:ext cx="1752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760" b="0" i="0" lang="ko-KR">
                <a:solidFill>
                  <a:srgbClr val="263D32"/>
                </a:solidFill>
                <a:latin typeface="Georgia"/>
              </a:rPr>
              <a:t>Feel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9200" y="3810000"/>
            <a:ext cx="2286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어떻게 느껴지나요?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05600" y="4686300"/>
            <a:ext cx="4762500" cy="10668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6580" y="4876800"/>
            <a:ext cx="1752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760" b="0" i="0" lang="ko-KR">
                <a:solidFill>
                  <a:srgbClr val="263D32"/>
                </a:solidFill>
                <a:latin typeface="Georgia"/>
              </a:rPr>
              <a:t>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9200" y="5074920"/>
            <a:ext cx="2286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어느 방향인가요?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03 / INFORMATION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관련되어도, 같은 종류의 정보는 아닙니다.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한 목록에 섞지 않고, 각각 답하는 질문을 구분합니다.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09800"/>
            <a:ext cx="3429000" cy="299466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5340" y="240030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◇ NOTE / 대상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340" y="281940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Rose · Sandalwood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3672840"/>
            <a:ext cx="3017520" cy="143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구체적인 향의 대상.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실제 원료의 사용이나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배합 비율을 보장하지 않습니다.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2209800"/>
            <a:ext cx="3429000" cy="299466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240030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○ DESCRIPTOR / 질감과 인상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281940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Dry · Creamy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240" y="3672840"/>
            <a:ext cx="3017520" cy="143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느껴지는 방식의 표현.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여러 노트와 계열에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겹쳐 적용될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399" y="2209800"/>
            <a:ext cx="3429000" cy="299466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9140" y="240030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● FAMILY / 큰 방향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9140" y="281940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Floral · Woody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9140" y="3672840"/>
            <a:ext cx="3017520" cy="143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전체적인 성격을 묶는 분류.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분류 체계에 따라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이름과 경계가 달라집니다.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77840"/>
            <a:ext cx="10591800" cy="449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00" b="0" i="0" lang="ko-KR">
                <a:solidFill>
                  <a:srgbClr val="263D32"/>
                </a:solidFill>
                <a:latin typeface="Noto Sans CJK KR"/>
              </a:rPr>
              <a:t>핵심: 이름을 외우는 것에서, 무엇을 설명하는지 읽는 것으로.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04 / INTENDED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탐색 전후에 무엇이 달라질까요?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2095499"/>
            <a:ext cx="2019300" cy="25146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9620" y="233934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19" b="0" i="0" lang="ko-KR">
                <a:solidFill>
                  <a:srgbClr val="657369"/>
                </a:solidFill>
                <a:latin typeface="Noto Sans CJK KR"/>
              </a:rPr>
              <a:t>FEEL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620" y="287274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20" b="0" i="0" lang="ko-KR">
                <a:solidFill>
                  <a:srgbClr val="263D32"/>
                </a:solidFill>
                <a:latin typeface="Noto Sans CJK KR"/>
              </a:rPr>
              <a:t>호기심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620" y="3581400"/>
            <a:ext cx="16764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조용한 관찰실의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차분한 분위기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9400" y="2095499"/>
            <a:ext cx="2019300" cy="25146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9420" y="233934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19" b="0" i="0" lang="ko-KR">
                <a:solidFill>
                  <a:srgbClr val="657369"/>
                </a:solidFill>
                <a:latin typeface="Noto Sans CJK KR"/>
              </a:rPr>
              <a:t>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9420" y="287274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20" b="0" i="0" lang="ko-KR">
                <a:solidFill>
                  <a:srgbClr val="263D32"/>
                </a:solidFill>
                <a:latin typeface="Noto Sans CJK KR"/>
              </a:rPr>
              <a:t>정보의 차이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9420" y="3581400"/>
            <a:ext cx="16764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대상·질감·큰 방향의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서로 다른 역할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095499"/>
            <a:ext cx="2019300" cy="25146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9220" y="233934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19" b="0" i="0" lang="ko-KR">
                <a:solidFill>
                  <a:srgbClr val="657369"/>
                </a:solidFill>
                <a:latin typeface="Noto Sans CJK KR"/>
              </a:rP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9220" y="287274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20" b="0" i="0" lang="ko-KR">
                <a:solidFill>
                  <a:srgbClr val="263D32"/>
                </a:solidFill>
                <a:latin typeface="Noto Sans CJK KR"/>
              </a:rPr>
              <a:t>다른 가능성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9220" y="3581400"/>
            <a:ext cx="16764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같은 우디 방향 안의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다른 질감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9000" y="2095499"/>
            <a:ext cx="2019300" cy="25146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9020" y="233934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19" b="0" i="0" lang="ko-KR">
                <a:solidFill>
                  <a:srgbClr val="657369"/>
                </a:solidFill>
                <a:latin typeface="Noto Sans CJK KR"/>
              </a:rPr>
              <a:t>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9020" y="287274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20" b="0" i="0" lang="ko-KR">
                <a:solidFill>
                  <a:srgbClr val="263D32"/>
                </a:solidFill>
                <a:latin typeface="Noto Sans CJK KR"/>
              </a:rPr>
              <a:t>연결의 의미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9020" y="3581400"/>
            <a:ext cx="16764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관련되어도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동의어는 아님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48800" y="2095499"/>
            <a:ext cx="2019300" cy="251460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8820" y="233934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19" b="0" i="0" lang="ko-KR">
                <a:solidFill>
                  <a:srgbClr val="657369"/>
                </a:solidFill>
                <a:latin typeface="Noto Sans CJK KR"/>
              </a:rPr>
              <a:t>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8820" y="287274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20" b="0" i="0" lang="ko-KR">
                <a:solidFill>
                  <a:srgbClr val="263D32"/>
                </a:solidFill>
                <a:latin typeface="Noto Sans CJK KR"/>
              </a:rPr>
              <a:t>직접 관찰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8820" y="3581400"/>
            <a:ext cx="16764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선택·집중·전환·비교·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다시 연결하기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5044440"/>
            <a:ext cx="10972800" cy="1066800"/>
          </a:xfrm>
          <a:prstGeom prst="rect">
            <a:avLst/>
          </a:prstGeom>
          <a:solidFill>
            <a:srgbClr val="DEF1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" y="5234940"/>
            <a:ext cx="104394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“그냥 나무 향?” → “마른 결과 매끈한 질감을 따로 관찰해볼 수 있겠다.”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05 / THE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차별화는 기능보다, 이해의 순서에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지도와 비교가 존재한다는 사실만으로 새로움을 주장하지 않습니다.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171700"/>
            <a:ext cx="3429000" cy="306324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5340" y="236220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340" y="278130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하나의 궁금증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3634740"/>
            <a:ext cx="3017520" cy="150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같은 장미, 다른 나무.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구체적인 차이를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탐색의 입구로 삼습니다.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2171700"/>
            <a:ext cx="3429000" cy="306324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236220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278130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같은 장면의 다른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240" y="3634740"/>
            <a:ext cx="3017520" cy="150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대상·질감·큰 방향을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관점 전환으로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구조적으로 경험합니다.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399" y="2171700"/>
            <a:ext cx="3429000" cy="306324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9140" y="236220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9140" y="278130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다음 시향의 단서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9140" y="3634740"/>
            <a:ext cx="3017520" cy="150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공통점·바뀐 요소·관찰 질문을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돌려주어 사용자가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차이를 말할 수 있게 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623560"/>
            <a:ext cx="10668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657369"/>
                </a:solidFill>
                <a:latin typeface="Noto Sans CJK KR"/>
              </a:rPr>
              <a:t>분류는 탐색의 출발점이면서 동시에, 사례를 이해한 뒤 다시 읽을 수 있는 정보입니다.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06 / REFERENCES &amp; INSPIRATION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참고 자료를 설계 판단으로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사용자 제공 레퍼런스 기반 분석 / 원문 접근 상태는 부록에 표시했습니다.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057400"/>
            <a:ext cx="10972800" cy="73914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209800"/>
            <a:ext cx="39243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Fragrantica / Perfume Finder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2209800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노트와 제품을 탐색하는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99" y="22098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제품 탐색 전에 언어와 관계를 이해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933700"/>
            <a:ext cx="10972800" cy="739140"/>
          </a:xfrm>
          <a:prstGeom prst="rect">
            <a:avLst/>
          </a:prstGeom>
          <a:solidFill>
            <a:srgbClr val="F0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3086100"/>
            <a:ext cx="39243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Scent Verdict / Scent Wheel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3086100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계열을 공간에 조직하는 접근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30861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위치에 더해 연결의 이유를 문장으로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810000"/>
            <a:ext cx="10972800" cy="73914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3962399"/>
            <a:ext cx="39243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Michael Edwards / Fragrance Wheel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3962399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향 계열 분류의 참고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799" y="3962399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계열·노트·표현의 역할을 구분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4686300"/>
            <a:ext cx="10972800" cy="739140"/>
          </a:xfrm>
          <a:prstGeom prst="rect">
            <a:avLst/>
          </a:prstGeom>
          <a:solidFill>
            <a:srgbClr val="F0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4838700"/>
            <a:ext cx="39243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Everfumed / Scent Sign Quiz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3000" y="4838700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선택으로 진입점을 만드는 경험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4799" y="48387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취향 판정 대신 다음 관찰 질문 제공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5867400"/>
            <a:ext cx="10896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657369"/>
                </a:solidFill>
                <a:latin typeface="Noto Sans CJK KR"/>
              </a:rPr>
              <a:t>경험: Explorable Explanations / 시각 언어: 에디토리얼과 식물 관찰 노트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07 / MOOD &amp; VISION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Quiet. Tactile. Curious. Layered.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꽃잎, 결, 입자, 직물 — 감각을 생각해 볼 단서.</a:t>
            </a:r>
          </a:p>
        </p:txBody>
      </p:sp>
      <p:pic>
        <p:nvPicPr>
          <p:cNvPr id="5" name="Picture 4" descr="mood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2057400"/>
            <a:ext cx="600075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2247900"/>
            <a:ext cx="289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59" b="0" i="0" lang="ko-KR">
                <a:solidFill>
                  <a:srgbClr val="263D32"/>
                </a:solidFill>
                <a:latin typeface="Noto Sans CJK KR"/>
              </a:rPr>
              <a:t>조용한 관찰실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59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59" b="0" i="0" lang="ko-KR">
                <a:solidFill>
                  <a:srgbClr val="263D32"/>
                </a:solidFill>
                <a:latin typeface="Noto Sans CJK KR"/>
              </a:rPr>
              <a:t>만져질 듯한 소재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59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59" b="0" i="0" lang="ko-KR">
                <a:solidFill>
                  <a:srgbClr val="263D32"/>
                </a:solidFill>
                <a:latin typeface="Noto Sans CJK KR"/>
              </a:rPr>
              <a:t>겹침과 분리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59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59" b="0" i="0" lang="ko-KR">
                <a:solidFill>
                  <a:srgbClr val="263D32"/>
                </a:solidFill>
                <a:latin typeface="Noto Sans CJK KR"/>
              </a:rPr>
              <a:t>느린 발견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5265420"/>
            <a:ext cx="266700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자체 생성 시각 자료.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감각의 비유이며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실제 냄새를 재현하지 않습니다.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08 / VISUAL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읽기 위한 여백. 선택을 위한 강조.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943100"/>
            <a:ext cx="2019300" cy="990599"/>
          </a:xfrm>
          <a:prstGeom prst="rect">
            <a:avLst/>
          </a:prstGeom>
          <a:solidFill>
            <a:srgbClr val="F6F5EF"/>
          </a:solidFill>
          <a:ln w="7620">
            <a:solidFill>
              <a:srgbClr val="D7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7700" y="3086100"/>
            <a:ext cx="198119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PAPER / #F6F5EF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1943100"/>
            <a:ext cx="2019300" cy="990599"/>
          </a:xfrm>
          <a:prstGeom prst="rect">
            <a:avLst/>
          </a:prstGeom>
          <a:solidFill>
            <a:srgbClr val="263D32"/>
          </a:solidFill>
          <a:ln w="7620">
            <a:solidFill>
              <a:srgbClr val="D7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57500" y="3086100"/>
            <a:ext cx="198119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PINE / #263D32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943100"/>
            <a:ext cx="2019300" cy="990599"/>
          </a:xfrm>
          <a:prstGeom prst="rect">
            <a:avLst/>
          </a:prstGeom>
          <a:solidFill>
            <a:srgbClr val="DEF19F"/>
          </a:solidFill>
          <a:ln w="7620">
            <a:solidFill>
              <a:srgbClr val="D7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67300" y="3086100"/>
            <a:ext cx="198119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SELECT / #DEF19F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39000" y="1943100"/>
            <a:ext cx="2019300" cy="990599"/>
          </a:xfrm>
          <a:prstGeom prst="rect">
            <a:avLst/>
          </a:prstGeom>
          <a:solidFill>
            <a:srgbClr val="D6A69B"/>
          </a:solidFill>
          <a:ln w="7620">
            <a:solidFill>
              <a:srgbClr val="D7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77100" y="3086100"/>
            <a:ext cx="198119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ROSE / #D6A69B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48800" y="1943100"/>
            <a:ext cx="2019300" cy="990599"/>
          </a:xfrm>
          <a:prstGeom prst="rect">
            <a:avLst/>
          </a:prstGeom>
          <a:solidFill>
            <a:srgbClr val="D8C8A5"/>
          </a:solidFill>
          <a:ln w="7620">
            <a:solidFill>
              <a:srgbClr val="D7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86900" y="3086100"/>
            <a:ext cx="198119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SAND / #D8C8A5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695700"/>
            <a:ext cx="4953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3240" b="0" i="1" lang="ko-KR">
                <a:solidFill>
                  <a:srgbClr val="263D32"/>
                </a:solidFill>
                <a:latin typeface="Georgia"/>
              </a:rPr>
              <a:t>A word.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3240" b="0" i="1" lang="ko-KR">
                <a:solidFill>
                  <a:srgbClr val="263D32"/>
                </a:solidFill>
                <a:latin typeface="Georgia"/>
              </a:rPr>
              <a:t>A different perspective.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" y="5166360"/>
            <a:ext cx="4953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657369"/>
                </a:solidFill>
                <a:latin typeface="Noto Sans CJK KR"/>
              </a:rPr>
              <a:t>제목: Georgia serif / 본문·UI: DM Sans + 한국어 sans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657369"/>
                </a:solidFill>
                <a:latin typeface="Noto Sans CJK KR"/>
              </a:rPr>
              <a:t>영문 제목과 한국어 설명 사이의 위계를 명확하게.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53200" y="3672840"/>
            <a:ext cx="5029200" cy="211836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1800" y="3901440"/>
            <a:ext cx="449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◇ Note    ○ Descriptor    ● Family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4442460"/>
            <a:ext cx="4495800" cy="108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유형 이름과 기호를 함께 표시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선택한 요소 강조 / 다른 요소 약화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짧은 전환 / reduced motion 지원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09 / SITEMAP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한 페이지, 서로 연결되는 영역과 상태.</a:t>
            </a:r>
          </a:p>
        </p:txBody>
      </p:sp>
      <p:pic>
        <p:nvPicPr>
          <p:cNvPr id="4" name="Picture 3" descr="sit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38300"/>
            <a:ext cx="9448800" cy="4724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10 /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순서가 있는 안내, 자유롭게 왕복하는 탐색.</a:t>
            </a:r>
          </a:p>
        </p:txBody>
      </p:sp>
      <p:pic>
        <p:nvPicPr>
          <p:cNvPr id="4" name="Picture 3" descr="user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790700"/>
            <a:ext cx="8991600" cy="449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11 /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배치의 목적을 먼저 설계합니다.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질문 → 관점 → 장면과 설명 → 하나의 차이 관찰</a:t>
            </a:r>
          </a:p>
        </p:txBody>
      </p:sp>
      <p:pic>
        <p:nvPicPr>
          <p:cNvPr id="5" name="Picture 4" descr="wireframe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866899"/>
            <a:ext cx="8915400" cy="4457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12 / KEY DESIGN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장면은 유지하고, 읽는 정보가 바뀝니다.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Notes는 대상, Feel은 질감, Family는 큰 방향을 강조합니다.</a:t>
            </a:r>
          </a:p>
        </p:txBody>
      </p:sp>
      <p:pic>
        <p:nvPicPr>
          <p:cNvPr id="5" name="Picture 4" descr="wireframe-perspec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90700"/>
            <a:ext cx="8534400" cy="426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13 / DESIGN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같은 장면을 직접 바꾸어 읽어보세요.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별도 제출용 프로토타입 / 현재 실행되는 v1과 구분합니다.</a:t>
            </a:r>
          </a:p>
        </p:txBody>
      </p:sp>
      <p:pic>
        <p:nvPicPr>
          <p:cNvPr id="5" name="Picture 4" descr="study-f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285" y="2004060"/>
            <a:ext cx="7499029" cy="377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48800" y="2141220"/>
            <a:ext cx="21717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19" b="0" i="0" lang="ko-KR">
                <a:solidFill>
                  <a:srgbClr val="657369"/>
                </a:solidFill>
                <a:latin typeface="Noto Sans CJK KR"/>
              </a:rPr>
              <a:t>TRY THE LENSES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800" y="2590800"/>
            <a:ext cx="2133600" cy="2362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01 Notes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대상을 읽기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02 Feel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질감을 읽기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03 Family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큰 방향 읽기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12180"/>
            <a:ext cx="10820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263D32"/>
                </a:solidFill>
                <a:latin typeface="Noto Sans CJK KR"/>
              </a:rPr>
              <a:t>관점을 바꾸어도 현재 사례와 관심 대상은 유지됩니다.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14 / RESPONSIVE INTENTIONS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줄이기보다, 읽는 관계를 재배치합니다.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넓은 화면은 공간적으로, 좁은 화면은 이해의 순서로.</a:t>
            </a:r>
          </a:p>
        </p:txBody>
      </p:sp>
      <p:pic>
        <p:nvPicPr>
          <p:cNvPr id="5" name="Picture 4" descr="wireframe-respon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420" y="1821180"/>
            <a:ext cx="8519160" cy="42595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2500" y="6118860"/>
            <a:ext cx="10287000" cy="281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 i="0" lang="ko-KR">
                <a:solidFill>
                  <a:srgbClr val="657369"/>
                </a:solidFill>
                <a:latin typeface="Noto Sans CJK KR"/>
              </a:rPr>
              <a:t>대략 680px에서 쌓기 · 방향키 탭 전환 · 명시적 선택 상태 · 움직임 감소 설정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APPENDIX A / COMPARISON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같은 부분을 남겨야, 차이가 읽힙니다.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" y="1562100"/>
            <a:ext cx="1089660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대표 사례 A / B — 향의 결과를 계산한 시뮬레이션이 아닙니다.</a:t>
            </a:r>
          </a:p>
        </p:txBody>
      </p:sp>
      <p:pic>
        <p:nvPicPr>
          <p:cNvPr id="5" name="Picture 4" descr="wireframe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851660"/>
            <a:ext cx="8717280" cy="4358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APPENDIX B / WHAT EXISTS &amp; 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현재 실험과 다음 개발 범위를 구분합니다.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2103120"/>
            <a:ext cx="3429000" cy="332994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5340" y="229362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V1 / IMPLEMENTED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340" y="271272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관계 지도와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340" y="3566160"/>
            <a:ext cx="3017520" cy="1767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12개 개념 / 설명이 있는 관계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관련 개념 강조와 표현 비교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11개 브라우저 테스트 통과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320–1440px 레이아웃 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500" y="2103120"/>
            <a:ext cx="3429000" cy="332994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7240" y="229362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V2 / DESIGN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240" y="271272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세 관점의 한 장면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3566160"/>
            <a:ext cx="3017520" cy="1767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Notes / Feel / Family 전환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요소 집중과 사례 A/B 전환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모바일·키보드 조작 실험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기존 v1과 별도 파일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3399" y="2103120"/>
            <a:ext cx="3429000" cy="3329940"/>
          </a:xfrm>
          <a:prstGeom prst="roundRect">
            <a:avLst>
              <a:gd name="adj" fmla="val 3000"/>
            </a:avLst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9140" y="2293620"/>
            <a:ext cx="30175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80" b="0" i="0" lang="ko-KR">
                <a:solidFill>
                  <a:srgbClr val="657369"/>
                </a:solidFill>
                <a:latin typeface="Noto Sans CJK KR"/>
              </a:rPr>
              <a:t>NEXT / REVIEW &amp;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9140" y="2712720"/>
            <a:ext cx="301752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39" b="0" i="0" lang="ko-KR">
                <a:solidFill>
                  <a:srgbClr val="263D32"/>
                </a:solidFill>
                <a:latin typeface="Noto Sans CJK KR"/>
              </a:rPr>
              <a:t>피드백 뒤 통합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9140" y="3566160"/>
            <a:ext cx="3017520" cy="1767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대표 화면과 관계 지도 연결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콘텐츠 용례와 출처 검토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사용자의 이해 변화 확인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시간 변화는 후속 확장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730240"/>
            <a:ext cx="10820400" cy="35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80" b="0" i="0" lang="ko-KR">
                <a:solidFill>
                  <a:srgbClr val="657369"/>
                </a:solidFill>
                <a:latin typeface="Noto Sans CJK KR"/>
              </a:rPr>
              <a:t>현재 오각형은 편집된 예시입니다. 다음 중심 경험은 수치보다 관찰 단서를 우선합니다.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APPENDIX C / COURSE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상호작용에는 이해를 돕는 이유가 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943100"/>
            <a:ext cx="10972800" cy="66294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2103120"/>
            <a:ext cx="91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657369"/>
                </a:solidFill>
                <a:latin typeface="Noto Sans CJK KR"/>
              </a:rPr>
              <a:t>W01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6899" y="2103120"/>
            <a:ext cx="33909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80" b="0" i="0" lang="ko-KR">
                <a:solidFill>
                  <a:srgbClr val="263D32"/>
                </a:solidFill>
                <a:latin typeface="Georgia"/>
              </a:rPr>
              <a:t>Storytelling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110740"/>
            <a:ext cx="5791200" cy="35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추상적인 장면이 읽을 수 있는 구조로 바뀜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727960"/>
            <a:ext cx="10972800" cy="662940"/>
          </a:xfrm>
          <a:prstGeom prst="rect">
            <a:avLst/>
          </a:prstGeom>
          <a:solidFill>
            <a:srgbClr val="F1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2887980"/>
            <a:ext cx="91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657369"/>
                </a:solidFill>
                <a:latin typeface="Noto Sans CJK KR"/>
              </a:rPr>
              <a:t>W02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6899" y="2887980"/>
            <a:ext cx="33909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80" b="0" i="0" lang="ko-KR">
                <a:solidFill>
                  <a:srgbClr val="263D32"/>
                </a:solidFill>
                <a:latin typeface="Georgia"/>
              </a:rPr>
              <a:t>Intended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895600"/>
            <a:ext cx="5791200" cy="35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사용자가 질문을 갖고 선택하며 발견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512820"/>
            <a:ext cx="10972800" cy="66294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3672840"/>
            <a:ext cx="91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657369"/>
                </a:solidFill>
                <a:latin typeface="Noto Sans CJK KR"/>
              </a:rPr>
              <a:t>W03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6899" y="3672840"/>
            <a:ext cx="33909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80" b="0" i="0" lang="ko-KR">
                <a:solidFill>
                  <a:srgbClr val="263D32"/>
                </a:solidFill>
                <a:latin typeface="Georgia"/>
              </a:rPr>
              <a:t>Visual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680460"/>
            <a:ext cx="5791200" cy="35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결·입자·색·여백이 관찰의 단서가 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297680"/>
            <a:ext cx="10972800" cy="662940"/>
          </a:xfrm>
          <a:prstGeom prst="rect">
            <a:avLst/>
          </a:prstGeom>
          <a:solidFill>
            <a:srgbClr val="F1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4457700"/>
            <a:ext cx="91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657369"/>
                </a:solidFill>
                <a:latin typeface="Noto Sans CJK KR"/>
              </a:rPr>
              <a:t>W04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66899" y="4457700"/>
            <a:ext cx="33909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80" b="0" i="0" lang="ko-KR">
                <a:solidFill>
                  <a:srgbClr val="263D32"/>
                </a:solidFill>
                <a:latin typeface="Georgia"/>
              </a:rPr>
              <a:t>Spatial Relationships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465320"/>
            <a:ext cx="5791200" cy="35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대상과 역할을 공간에서 분리하고 연결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5082540"/>
            <a:ext cx="10972800" cy="66294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242560"/>
            <a:ext cx="91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657369"/>
                </a:solidFill>
                <a:latin typeface="Noto Sans CJK KR"/>
              </a:rPr>
              <a:t>W05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66899" y="5242560"/>
            <a:ext cx="33909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80" b="0" i="0" lang="ko-KR">
                <a:solidFill>
                  <a:srgbClr val="263D32"/>
                </a:solidFill>
                <a:latin typeface="Georgia"/>
              </a:rPr>
              <a:t>A Web That Responds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250180"/>
            <a:ext cx="5791200" cy="35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0" i="0" lang="ko-KR">
                <a:solidFill>
                  <a:srgbClr val="263D32"/>
                </a:solidFill>
                <a:latin typeface="Noto Sans CJK KR"/>
              </a:rPr>
              <a:t>선택과 화면 크기에 따라 강조와 배치가 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6019800"/>
            <a:ext cx="10668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 i="0" lang="ko-KR">
                <a:solidFill>
                  <a:srgbClr val="657369"/>
                </a:solidFill>
                <a:latin typeface="Noto Sans CJK KR"/>
              </a:rPr>
              <a:t>Field notes: 관계의 이유, 좁은 화면의 재구성, 키보드·움직임 감소 실험을 기록했습니다.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APPENDIX D / REFERENCES &amp; CREDIT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무엇을 참고했고, 무엇을 직접 만들었는가?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40" y="1958340"/>
            <a:ext cx="104394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  <a:hlinkClick r:id="rId2"/>
              </a:rPr>
              <a:t>Fragrantica · Perfume Finder  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40" y="2461260"/>
            <a:ext cx="104394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  <a:hlinkClick r:id="rId3"/>
              </a:rPr>
              <a:t>Scent Verdict · Scent Wheel  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2964180"/>
            <a:ext cx="104394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  <a:hlinkClick r:id="rId4"/>
              </a:rPr>
              <a:t>Michael Edwards · Fragrances of the World  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" y="3467100"/>
            <a:ext cx="104394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  <a:hlinkClick r:id="rId5"/>
              </a:rPr>
              <a:t>Everfumed · Scent Sign Quiz 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" y="3970020"/>
            <a:ext cx="104394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  <a:hlinkClick r:id="rId6"/>
              </a:rPr>
              <a:t>Bret Victor · Explorable Explanations  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" y="4472940"/>
            <a:ext cx="104394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39" b="0" i="0" lang="ko-KR">
                <a:solidFill>
                  <a:srgbClr val="263D32"/>
                </a:solidFill>
                <a:latin typeface="Noto Sans CJK KR"/>
                <a:hlinkClick r:id="rId7"/>
              </a:rPr>
              <a:t>Kinfolk · Editorial Reference  ↗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5189220"/>
            <a:ext cx="10972800" cy="1028700"/>
          </a:xfrm>
          <a:prstGeom prst="rect">
            <a:avLst/>
          </a:prstGeom>
          <a:solidFill>
            <a:srgbClr val="E9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5334000"/>
            <a:ext cx="10515600" cy="71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263D32"/>
                </a:solidFill>
                <a:latin typeface="Noto Sans CJK KR"/>
              </a:rPr>
              <a:t>검토 상태: 제공 자료 기반 분석 / 외부 원문 접근은 프록시 403으로 제한.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263D32"/>
                </a:solidFill>
                <a:latin typeface="Noto Sans CJK KR"/>
              </a:rPr>
              <a:t>자체 제작: AI 생성 무드보드 · 직접 설계한 다이어그램 · 실제 프로토타입 캡처.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263D32"/>
                </a:solidFill>
                <a:latin typeface="Noto Sans CJK KR"/>
              </a:rPr>
              <a:t>시장 유일성이나 측정된 향 데이터를 주장하지 않습니다.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APPENDIX E /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탐색 뒤, 어떤 차이를 말할 수 있나요?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80" b="0" i="0" lang="ko-KR">
                <a:solidFill>
                  <a:srgbClr val="657369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8300" y="2057400"/>
            <a:ext cx="9753600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20" b="0" i="0" lang="ko-KR">
                <a:solidFill>
                  <a:srgbClr val="263D32"/>
                </a:solidFill>
                <a:latin typeface="Noto Sans CJK KR"/>
              </a:rPr>
              <a:t>Rose · Floral · Creamy는 서로 어떤 정보인가요?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7274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80" b="0" i="0" lang="ko-KR">
                <a:solidFill>
                  <a:srgbClr val="657369"/>
                </a:solidFill>
                <a:latin typeface="Georg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8300" y="2872740"/>
            <a:ext cx="9753600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20" b="0" i="0" lang="ko-KR">
                <a:solidFill>
                  <a:srgbClr val="263D32"/>
                </a:solidFill>
                <a:latin typeface="Noto Sans CJK KR"/>
              </a:rPr>
              <a:t>관점을 바꾸며 무엇을 새롭게 발견했나요?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8808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80" b="0" i="0" lang="ko-KR">
                <a:solidFill>
                  <a:srgbClr val="657369"/>
                </a:solidFill>
                <a:latin typeface="Georgia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3688080"/>
            <a:ext cx="9753600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20" b="0" i="0" lang="ko-KR">
                <a:solidFill>
                  <a:srgbClr val="263D32"/>
                </a:solidFill>
                <a:latin typeface="Noto Sans CJK KR"/>
              </a:rPr>
              <a:t>두 사례에서 무엇이 유지되고 달라졌나요?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342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80" b="0" i="0" lang="ko-KR">
                <a:solidFill>
                  <a:srgbClr val="657369"/>
                </a:solidFill>
                <a:latin typeface="Georgia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8300" y="4503420"/>
            <a:ext cx="9753600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20" b="0" i="0" lang="ko-KR">
                <a:solidFill>
                  <a:srgbClr val="263D32"/>
                </a:solidFill>
                <a:latin typeface="Noto Sans CJK KR"/>
              </a:rPr>
              <a:t>다음 시향에서 어떤 차이에 주목하겠어요?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570220"/>
            <a:ext cx="10972800" cy="571500"/>
          </a:xfrm>
          <a:prstGeom prst="rect">
            <a:avLst/>
          </a:prstGeom>
          <a:solidFill>
            <a:srgbClr val="DEF1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6300" y="572262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739" b="0" i="0" lang="ko-KR">
                <a:solidFill>
                  <a:srgbClr val="263D32"/>
                </a:solidFill>
                <a:latin typeface="Noto Sans CJK KR"/>
              </a:rPr>
              <a:t>목표: 향을 읽고, 스스로 관찰할 질문을 갖게 하는 것.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287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APPENDIX F / REQUIREMENTS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45820"/>
            <a:ext cx="10972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940" b="0" i="0" lang="ko-KR">
                <a:solidFill>
                  <a:srgbClr val="263D32"/>
                </a:solidFill>
                <a:latin typeface="Noto Sans CJK KR"/>
              </a:rPr>
              <a:t>제출 항목을 빠짐없이 연결했습니다.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844040"/>
            <a:ext cx="10972800" cy="40386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912620"/>
            <a:ext cx="44196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Concept / Premise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10200" y="1920240"/>
            <a:ext cx="586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3장 / PROJECT-PROPOSAL.md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316480"/>
            <a:ext cx="10972800" cy="403860"/>
          </a:xfrm>
          <a:prstGeom prst="rect">
            <a:avLst/>
          </a:prstGeom>
          <a:solidFill>
            <a:srgbClr val="F0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385060"/>
            <a:ext cx="44196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Intended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200" y="2392680"/>
            <a:ext cx="586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5장 / Feel·Notice·Discover·Understand·Do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788920"/>
            <a:ext cx="10972800" cy="40386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857500"/>
            <a:ext cx="44196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References / Inspiration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0200" y="2865120"/>
            <a:ext cx="586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7장·19장 / REFERENCE-NOTES.md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261360"/>
            <a:ext cx="10972800" cy="403860"/>
          </a:xfrm>
          <a:prstGeom prst="rect">
            <a:avLst/>
          </a:prstGeom>
          <a:solidFill>
            <a:srgbClr val="F0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3329940"/>
            <a:ext cx="44196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Mood / Vision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0200" y="3337560"/>
            <a:ext cx="586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8장 / assets/moodboard.png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733799"/>
            <a:ext cx="10972800" cy="40386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3802380"/>
            <a:ext cx="44196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Visual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0200" y="3810000"/>
            <a:ext cx="586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9장 / 색·서체·기호·강조·움직임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4206240"/>
            <a:ext cx="10972800" cy="403860"/>
          </a:xfrm>
          <a:prstGeom prst="rect">
            <a:avLst/>
          </a:prstGeom>
          <a:solidFill>
            <a:srgbClr val="F0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4274820"/>
            <a:ext cx="44196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Sitemap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0200" y="4282440"/>
            <a:ext cx="586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10장 / assets/sitemap.svg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4678680"/>
            <a:ext cx="10972800" cy="40386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4747260"/>
            <a:ext cx="44196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User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0200" y="4754880"/>
            <a:ext cx="586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11장 / assets/user-flow.svg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151120"/>
            <a:ext cx="10972800" cy="403860"/>
          </a:xfrm>
          <a:prstGeom prst="rect">
            <a:avLst/>
          </a:prstGeom>
          <a:solidFill>
            <a:srgbClr val="F0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5219700"/>
            <a:ext cx="44196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Wireframes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5227320"/>
            <a:ext cx="586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12–13장·16장 / 주요 상태 배치도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5623560"/>
            <a:ext cx="10972800" cy="403860"/>
          </a:xfrm>
          <a:prstGeom prst="rect">
            <a:avLst/>
          </a:prstGeom>
          <a:solidFill>
            <a:srgbClr val="E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0" y="5692140"/>
            <a:ext cx="44196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20" b="0" i="0" lang="ko-KR">
                <a:solidFill>
                  <a:srgbClr val="263D32"/>
                </a:solidFill>
                <a:latin typeface="Noto Sans CJK KR"/>
              </a:rPr>
              <a:t>Responsive Intentions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0200" y="5699760"/>
            <a:ext cx="586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60" b="0" i="0" lang="ko-KR">
                <a:solidFill>
                  <a:srgbClr val="657369"/>
                </a:solidFill>
                <a:latin typeface="Noto Sans CJK KR"/>
              </a:rPr>
              <a:t>15장 / 데스크톱·모바일 비교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6515100"/>
            <a:ext cx="10972800" cy="7620"/>
          </a:xfrm>
          <a:prstGeom prst="rect">
            <a:avLst/>
          </a:prstGeom>
          <a:solidFill>
            <a:srgbClr val="D7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840" y="6621780"/>
            <a:ext cx="97536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19" b="0" i="0" lang="ko-KR">
                <a:solidFill>
                  <a:srgbClr val="657369"/>
                </a:solidFill>
                <a:latin typeface="Noto Sans CJK KR"/>
              </a:rPr>
              <a:t>THE ANATOMY OF SCENT / MIDTERM DESIGN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98920"/>
            <a:ext cx="457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60" b="0" i="0" lang="ko-KR">
                <a:solidFill>
                  <a:srgbClr val="657369"/>
                </a:solidFill>
                <a:latin typeface="Noto Sans CJK K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